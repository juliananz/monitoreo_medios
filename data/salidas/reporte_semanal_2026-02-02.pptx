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5148072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8072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7315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3200">
                <a:solidFill>
                  <a:srgbClr val="FFFFFF"/>
                </a:solidFill>
              </a:rPr>
              <a:t>Reporte Semanal
Monitoreo de Medios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651760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400">
                <a:solidFill>
                  <a:srgbClr val="AACCEE"/>
                </a:solidFill>
              </a:rPr>
              <a:t>Secretaría de Economía — Gobierno de Coahuila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182112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200">
                <a:solidFill>
                  <a:srgbClr val="CCDDEE"/>
                </a:solidFill>
              </a:rPr>
              <a:t>27 Jan – 02 Feb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54864"/>
            <a:ext cx="6583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700">
                <a:solidFill>
                  <a:srgbClr val="FFFFFF"/>
                </a:solidFill>
              </a:rPr>
              <a:t>Resumen de la Semana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0" y="13716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sz="900">
                <a:solidFill>
                  <a:srgbClr val="CCCCCC"/>
                </a:solidFill>
              </a:rPr>
              <a:t>02/02/2026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937760"/>
            <a:ext cx="9144000" cy="210312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4937760"/>
            <a:ext cx="877824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700">
                <a:solidFill>
                  <a:srgbClr val="999999"/>
                </a:solidFill>
              </a:rPr>
              <a:t>Secretaría de Economía — Gobierno de Coahuila  |  02/02/2026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822960"/>
            <a:ext cx="1920240" cy="123444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822960"/>
            <a:ext cx="192024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3600">
                <a:solidFill>
                  <a:srgbClr val="FFFFFF"/>
                </a:solidFill>
              </a:rPr>
              <a:t>154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572768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900">
                <a:solidFill>
                  <a:srgbClr val="FFFFFF"/>
                </a:solidFill>
              </a:rPr>
              <a:t>Noticias relevantes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14600" y="822960"/>
            <a:ext cx="1920240" cy="123444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14600" y="822960"/>
            <a:ext cx="192024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3600">
                <a:solidFill>
                  <a:srgbClr val="FFFFFF"/>
                </a:solidFill>
              </a:rPr>
              <a:t>13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14600" y="1572768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900">
                <a:solidFill>
                  <a:srgbClr val="FFFFFF"/>
                </a:solidFill>
              </a:rPr>
              <a:t>Riesgos detectados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63440" y="822960"/>
            <a:ext cx="1920240" cy="1234440"/>
          </a:xfrm>
          <a:prstGeom prst="rect">
            <a:avLst/>
          </a:prstGeom>
          <a:solidFill>
            <a:srgbClr val="1E7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63440" y="822960"/>
            <a:ext cx="192024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3600">
                <a:solidFill>
                  <a:srgbClr val="FFFFFF"/>
                </a:solidFill>
              </a:rPr>
              <a:t>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1572768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900">
                <a:solidFill>
                  <a:srgbClr val="FFFFFF"/>
                </a:solidFill>
              </a:rPr>
              <a:t>Oportunidades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12280" y="822960"/>
            <a:ext cx="1920240" cy="1234440"/>
          </a:xfrm>
          <a:prstGeom prst="rect">
            <a:avLst/>
          </a:prstGeom>
          <a:solidFill>
            <a:srgbClr val="1765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12280" y="822960"/>
            <a:ext cx="192024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360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12280" y="1572768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900">
                <a:solidFill>
                  <a:srgbClr val="FFFFFF"/>
                </a:solidFill>
              </a:rPr>
              <a:t>Medios activos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2331720"/>
            <a:ext cx="8412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100">
                <a:solidFill>
                  <a:srgbClr val="1F3864"/>
                </a:solidFill>
              </a:rPr>
              <a:t>Temas principales esta semana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706624"/>
            <a:ext cx="3840480" cy="246888"/>
          </a:xfrm>
          <a:prstGeom prst="rect">
            <a:avLst/>
          </a:prstGeom>
          <a:solidFill>
            <a:srgbClr val="E0EA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65760" y="2706624"/>
            <a:ext cx="1197032" cy="246888"/>
          </a:xfrm>
          <a:prstGeom prst="rect">
            <a:avLst/>
          </a:prstGeom>
          <a:solidFill>
            <a:srgbClr val="1765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2651760"/>
            <a:ext cx="37490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900">
                <a:solidFill>
                  <a:srgbClr val="1A1A1A"/>
                </a:solidFill>
              </a:rPr>
              <a:t>Infraestructura  48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54880" y="2706624"/>
            <a:ext cx="3840480" cy="246888"/>
          </a:xfrm>
          <a:prstGeom prst="rect">
            <a:avLst/>
          </a:prstGeom>
          <a:solidFill>
            <a:srgbClr val="E0EA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754880" y="2706624"/>
            <a:ext cx="1122218" cy="246888"/>
          </a:xfrm>
          <a:prstGeom prst="rect">
            <a:avLst/>
          </a:prstGeom>
          <a:solidFill>
            <a:srgbClr val="1765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00600" y="2651760"/>
            <a:ext cx="37490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900">
                <a:solidFill>
                  <a:srgbClr val="1A1A1A"/>
                </a:solidFill>
              </a:rPr>
              <a:t>Empleo  45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3108960"/>
            <a:ext cx="3840480" cy="246888"/>
          </a:xfrm>
          <a:prstGeom prst="rect">
            <a:avLst/>
          </a:prstGeom>
          <a:solidFill>
            <a:srgbClr val="E0EA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65760" y="3108960"/>
            <a:ext cx="922712" cy="246888"/>
          </a:xfrm>
          <a:prstGeom prst="rect">
            <a:avLst/>
          </a:prstGeom>
          <a:solidFill>
            <a:srgbClr val="1765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3054096"/>
            <a:ext cx="37490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900">
                <a:solidFill>
                  <a:srgbClr val="1A1A1A"/>
                </a:solidFill>
              </a:rPr>
              <a:t>Inversion  37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754880" y="3108960"/>
            <a:ext cx="3840480" cy="246888"/>
          </a:xfrm>
          <a:prstGeom prst="rect">
            <a:avLst/>
          </a:prstGeom>
          <a:solidFill>
            <a:srgbClr val="E0EA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754880" y="3108960"/>
            <a:ext cx="623454" cy="246888"/>
          </a:xfrm>
          <a:prstGeom prst="rect">
            <a:avLst/>
          </a:prstGeom>
          <a:solidFill>
            <a:srgbClr val="1765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00600" y="3054096"/>
            <a:ext cx="37490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900">
                <a:solidFill>
                  <a:srgbClr val="1A1A1A"/>
                </a:solidFill>
              </a:rPr>
              <a:t>Industria  25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3511296"/>
            <a:ext cx="3840480" cy="246888"/>
          </a:xfrm>
          <a:prstGeom prst="rect">
            <a:avLst/>
          </a:prstGeom>
          <a:solidFill>
            <a:srgbClr val="E0EA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65760" y="3511296"/>
            <a:ext cx="448887" cy="246888"/>
          </a:xfrm>
          <a:prstGeom prst="rect">
            <a:avLst/>
          </a:prstGeom>
          <a:solidFill>
            <a:srgbClr val="1765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3456432"/>
            <a:ext cx="37490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900">
                <a:solidFill>
                  <a:srgbClr val="1A1A1A"/>
                </a:solidFill>
              </a:rPr>
              <a:t>Energia  18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754880" y="3511296"/>
            <a:ext cx="3840480" cy="246888"/>
          </a:xfrm>
          <a:prstGeom prst="rect">
            <a:avLst/>
          </a:prstGeom>
          <a:solidFill>
            <a:srgbClr val="E0EA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754880" y="3511296"/>
            <a:ext cx="274320" cy="246888"/>
          </a:xfrm>
          <a:prstGeom prst="rect">
            <a:avLst/>
          </a:prstGeom>
          <a:solidFill>
            <a:srgbClr val="1765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800600" y="3456432"/>
            <a:ext cx="37490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900">
                <a:solidFill>
                  <a:srgbClr val="1A1A1A"/>
                </a:solidFill>
              </a:rPr>
              <a:t>Comercio Exterior  11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0" y="3913632"/>
            <a:ext cx="3840480" cy="246888"/>
          </a:xfrm>
          <a:prstGeom prst="rect">
            <a:avLst/>
          </a:prstGeom>
          <a:solidFill>
            <a:srgbClr val="E0EA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65760" y="3913632"/>
            <a:ext cx="199505" cy="246888"/>
          </a:xfrm>
          <a:prstGeom prst="rect">
            <a:avLst/>
          </a:prstGeom>
          <a:solidFill>
            <a:srgbClr val="1765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3858768"/>
            <a:ext cx="37490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900">
                <a:solidFill>
                  <a:srgbClr val="1A1A1A"/>
                </a:solidFill>
              </a:rPr>
              <a:t>Aranceles  8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754880" y="3913632"/>
            <a:ext cx="3840480" cy="246888"/>
          </a:xfrm>
          <a:prstGeom prst="rect">
            <a:avLst/>
          </a:prstGeom>
          <a:solidFill>
            <a:srgbClr val="E0EA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754880" y="3913632"/>
            <a:ext cx="24938" cy="246888"/>
          </a:xfrm>
          <a:prstGeom prst="rect">
            <a:avLst/>
          </a:prstGeom>
          <a:solidFill>
            <a:srgbClr val="1765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800600" y="3858768"/>
            <a:ext cx="37490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900">
                <a:solidFill>
                  <a:srgbClr val="1A1A1A"/>
                </a:solidFill>
              </a:rPr>
              <a:t>Nearshoring  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54864"/>
            <a:ext cx="6583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700">
                <a:solidFill>
                  <a:srgbClr val="FFFFFF"/>
                </a:solidFill>
              </a:rPr>
              <a:t>Tema: Infraestructura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0" y="13716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sz="900">
                <a:solidFill>
                  <a:srgbClr val="CCCCCC"/>
                </a:solidFill>
              </a:rPr>
              <a:t>48 artículos esta semana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937760"/>
            <a:ext cx="9144000" cy="210312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4937760"/>
            <a:ext cx="877824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700">
                <a:solidFill>
                  <a:srgbClr val="999999"/>
                </a:solidFill>
              </a:rPr>
              <a:t>Secretaría de Economía — Gobierno de Coahuila  |  02/02/2026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13232"/>
            <a:ext cx="8412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000">
                <a:solidFill>
                  <a:srgbClr val="17658A"/>
                </a:solidFill>
              </a:rPr>
              <a:t>6 oportunidades  |  1 riesgos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078992"/>
            <a:ext cx="7406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900">
                <a:solidFill>
                  <a:srgbClr val="1A1A1A"/>
                </a:solidFill>
              </a:rPr>
              <a:t>● Cardinals confirman a Mike LaFleur como su nuevo head coach rumbo a la próxima temporada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1078992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sz="700">
                <a:solidFill>
                  <a:srgbClr val="999999"/>
                </a:solidFill>
              </a:rPr>
              <a:t>Vanguardia  01/02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408176"/>
            <a:ext cx="7406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900">
                <a:solidFill>
                  <a:srgbClr val="1A1A1A"/>
                </a:solidFill>
              </a:rPr>
              <a:t>● Se refuerza vigilancia y movilidad en carreteras de Coahuila: SEGOB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1408176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sz="700">
                <a:solidFill>
                  <a:srgbClr val="999999"/>
                </a:solidFill>
              </a:rPr>
              <a:t>Vanguardia  01/02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1737360"/>
            <a:ext cx="7406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900">
                <a:solidFill>
                  <a:srgbClr val="1A1A1A"/>
                </a:solidFill>
              </a:rPr>
              <a:t>● Tomateros deja escapar la victoria y cae ante Puerto Rico en la Serie del Caribe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1737360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sz="700">
                <a:solidFill>
                  <a:srgbClr val="999999"/>
                </a:solidFill>
              </a:rPr>
              <a:t>Vanguardia  01/02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066544"/>
            <a:ext cx="7406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900">
                <a:solidFill>
                  <a:srgbClr val="1A1A1A"/>
                </a:solidFill>
              </a:rPr>
              <a:t>● VIDEO: ‘El Diablo Viste a la Moda 2’ vuelve con más poder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2066544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sz="700">
                <a:solidFill>
                  <a:srgbClr val="999999"/>
                </a:solidFill>
              </a:rPr>
              <a:t>Vanguardia  01/02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2395728"/>
            <a:ext cx="7406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900">
                <a:solidFill>
                  <a:srgbClr val="1A1A1A"/>
                </a:solidFill>
              </a:rPr>
              <a:t>● Desde Guaymas, Sheinbaum hunde un buque para el arrecife artificial y abre museo subacuático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2395728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sz="700">
                <a:solidFill>
                  <a:srgbClr val="999999"/>
                </a:solidFill>
              </a:rPr>
              <a:t>Vanguardia  01/02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2724912"/>
            <a:ext cx="7406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900">
                <a:solidFill>
                  <a:srgbClr val="1A1A1A"/>
                </a:solidFill>
              </a:rPr>
              <a:t>● Desmantelaban bodegas y terminan detenidos por la Policía Municipal de Frontera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0" y="2724912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sz="700">
                <a:solidFill>
                  <a:srgbClr val="999999"/>
                </a:solidFill>
              </a:rPr>
              <a:t>Vanguardia  01/02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3054096"/>
            <a:ext cx="7406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900">
                <a:solidFill>
                  <a:srgbClr val="1A1A1A"/>
                </a:solidFill>
              </a:rPr>
              <a:t>● Dejaban en Tren operar sin licencia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3054096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sz="700">
                <a:solidFill>
                  <a:srgbClr val="999999"/>
                </a:solidFill>
              </a:rPr>
              <a:t>Vanguardia  01/02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3383280"/>
            <a:ext cx="7406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900">
                <a:solidFill>
                  <a:srgbClr val="1A1A1A"/>
                </a:solidFill>
              </a:rPr>
              <a:t>● Corrupción mortal y chivos expiatorios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0" y="3383280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sz="700">
                <a:solidFill>
                  <a:srgbClr val="999999"/>
                </a:solidFill>
              </a:rPr>
              <a:t>Vanguardia  01/02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54864"/>
            <a:ext cx="6583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700">
                <a:solidFill>
                  <a:srgbClr val="FFFFFF"/>
                </a:solidFill>
              </a:rPr>
              <a:t>Tema: Empleo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0" y="13716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sz="900">
                <a:solidFill>
                  <a:srgbClr val="CCCCCC"/>
                </a:solidFill>
              </a:rPr>
              <a:t>45 artículos esta semana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937760"/>
            <a:ext cx="9144000" cy="210312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4937760"/>
            <a:ext cx="877824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700">
                <a:solidFill>
                  <a:srgbClr val="999999"/>
                </a:solidFill>
              </a:rPr>
              <a:t>Secretaría de Economía — Gobierno de Coahuila  |  02/02/2026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13232"/>
            <a:ext cx="8412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000">
                <a:solidFill>
                  <a:srgbClr val="17658A"/>
                </a:solidFill>
              </a:rPr>
              <a:t>7 oportunidades  |  5 riesgos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078992"/>
            <a:ext cx="7406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900">
                <a:solidFill>
                  <a:srgbClr val="1A1A1A"/>
                </a:solidFill>
              </a:rPr>
              <a:t>● Cardinals confirman a Mike LaFleur como su nuevo head coach rumbo a la próxima temporada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1078992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sz="700">
                <a:solidFill>
                  <a:srgbClr val="999999"/>
                </a:solidFill>
              </a:rPr>
              <a:t>Vanguardia  01/02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408176"/>
            <a:ext cx="7406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900">
                <a:solidFill>
                  <a:srgbClr val="1A1A1A"/>
                </a:solidFill>
              </a:rPr>
              <a:t>● Ramos Arizpe: Brigadas municipales realizan jornadas de limpieza en diversos sectores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1408176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sz="700">
                <a:solidFill>
                  <a:srgbClr val="999999"/>
                </a:solidFill>
              </a:rPr>
              <a:t>Vanguardia  01/02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1737360"/>
            <a:ext cx="7406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900">
                <a:solidFill>
                  <a:srgbClr val="1A1A1A"/>
                </a:solidFill>
              </a:rPr>
              <a:t>● Gobierno de Coahuila reafirma alianza con el Ejército, Fuerza Aérea y Guardia Nacional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1737360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sz="700">
                <a:solidFill>
                  <a:srgbClr val="999999"/>
                </a:solidFill>
              </a:rPr>
              <a:t>Vanguardia  01/02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066544"/>
            <a:ext cx="7406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900">
                <a:solidFill>
                  <a:srgbClr val="1A1A1A"/>
                </a:solidFill>
              </a:rPr>
              <a:t>● Cambio en Morena Senado: Mier toma la batuta y envía mensaje rumbo a 2027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2066544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sz="700">
                <a:solidFill>
                  <a:srgbClr val="999999"/>
                </a:solidFill>
              </a:rPr>
              <a:t>Vanguardia  01/02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2395728"/>
            <a:ext cx="7406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900">
                <a:solidFill>
                  <a:srgbClr val="1E7A45"/>
                </a:solidFill>
              </a:rPr>
              <a:t>● Espacios DIF y Amor en Movimiento fortalecen la atención social en Saltillo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2395728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sz="700">
                <a:solidFill>
                  <a:srgbClr val="999999"/>
                </a:solidFill>
              </a:rPr>
              <a:t>Vanguardia  01/02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2724912"/>
            <a:ext cx="7406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900">
                <a:solidFill>
                  <a:srgbClr val="1A1A1A"/>
                </a:solidFill>
              </a:rPr>
              <a:t>● Con helicópteros artillados y T-6C: Sinaloa lanza megaoperativo por 10 mineros ‘levantados’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0" y="2724912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sz="700">
                <a:solidFill>
                  <a:srgbClr val="999999"/>
                </a:solidFill>
              </a:rPr>
              <a:t>Vanguardia  01/02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3054096"/>
            <a:ext cx="7406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900">
                <a:solidFill>
                  <a:srgbClr val="1A1A1A"/>
                </a:solidFill>
              </a:rPr>
              <a:t>● Jóvenes Construyendo el Futuro abre registro este 1 de febrero y recibir 9 mil 582 pesos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3054096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sz="700">
                <a:solidFill>
                  <a:srgbClr val="999999"/>
                </a:solidFill>
              </a:rPr>
              <a:t>Vanguardia  01/02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3383280"/>
            <a:ext cx="7406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900">
                <a:solidFill>
                  <a:srgbClr val="1A1A1A"/>
                </a:solidFill>
              </a:rPr>
              <a:t>● Desde Guaymas, Sheinbaum hunde un buque para el arrecife artificial y abre museo subacuático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0" y="3383280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sz="700">
                <a:solidFill>
                  <a:srgbClr val="999999"/>
                </a:solidFill>
              </a:rPr>
              <a:t>Vanguardia  01/02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54864"/>
            <a:ext cx="6583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700">
                <a:solidFill>
                  <a:srgbClr val="FFFFFF"/>
                </a:solidFill>
              </a:rPr>
              <a:t>Tema: Inversion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0" y="13716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sz="900">
                <a:solidFill>
                  <a:srgbClr val="CCCCCC"/>
                </a:solidFill>
              </a:rPr>
              <a:t>37 artículos esta semana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937760"/>
            <a:ext cx="9144000" cy="210312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4937760"/>
            <a:ext cx="877824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700">
                <a:solidFill>
                  <a:srgbClr val="999999"/>
                </a:solidFill>
              </a:rPr>
              <a:t>Secretaría de Economía — Gobierno de Coahuila  |  02/02/2026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13232"/>
            <a:ext cx="8412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000">
                <a:solidFill>
                  <a:srgbClr val="17658A"/>
                </a:solidFill>
              </a:rPr>
              <a:t>14 oportunidades  |  2 riesgos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078992"/>
            <a:ext cx="7406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900">
                <a:solidFill>
                  <a:srgbClr val="1E7A45"/>
                </a:solidFill>
              </a:rPr>
              <a:t>● Danza de los millones: Sergio Canales es el que más dinero gana en la Liga MX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1078992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sz="700">
                <a:solidFill>
                  <a:srgbClr val="999999"/>
                </a:solidFill>
              </a:rPr>
              <a:t>Vanguardia  01/02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408176"/>
            <a:ext cx="7406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900">
                <a:solidFill>
                  <a:srgbClr val="1A1A1A"/>
                </a:solidFill>
              </a:rPr>
              <a:t>● João Pedro, la obsesión del Cruz Azul, pese a su renovación con San Luis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1408176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sz="700">
                <a:solidFill>
                  <a:srgbClr val="999999"/>
                </a:solidFill>
              </a:rPr>
              <a:t>Vanguardia  01/02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1737360"/>
            <a:ext cx="7406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900">
                <a:solidFill>
                  <a:srgbClr val="1A1A1A"/>
                </a:solidFill>
              </a:rPr>
              <a:t>● Cardinals confirman a Mike LaFleur como su nuevo head coach rumbo a la próxima temporada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1737360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sz="700">
                <a:solidFill>
                  <a:srgbClr val="999999"/>
                </a:solidFill>
              </a:rPr>
              <a:t>Vanguardia  01/02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066544"/>
            <a:ext cx="7406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900">
                <a:solidFill>
                  <a:srgbClr val="1E7A45"/>
                </a:solidFill>
              </a:rPr>
              <a:t>● Deuda pública de México podría alcanzar hasta un 58% en 2030: Banco Base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2066544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sz="700">
                <a:solidFill>
                  <a:srgbClr val="999999"/>
                </a:solidFill>
              </a:rPr>
              <a:t>Vanguardia  01/02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2395728"/>
            <a:ext cx="7406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900">
                <a:solidFill>
                  <a:srgbClr val="1E7A45"/>
                </a:solidFill>
              </a:rPr>
              <a:t>● Autoridades y empresarios acuerdan acciones para el ordenamiento de establecimientos en Torreón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2395728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sz="700">
                <a:solidFill>
                  <a:srgbClr val="999999"/>
                </a:solidFill>
              </a:rPr>
              <a:t>Vanguardia  01/02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2724912"/>
            <a:ext cx="7406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900">
                <a:solidFill>
                  <a:srgbClr val="1A1A1A"/>
                </a:solidFill>
              </a:rPr>
              <a:t>● De los otros tiempos del tren y sus estaciones en Saltillo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0" y="2724912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sz="700">
                <a:solidFill>
                  <a:srgbClr val="999999"/>
                </a:solidFill>
              </a:rPr>
              <a:t>Vanguardia  01/02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3054096"/>
            <a:ext cx="7406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900">
                <a:solidFill>
                  <a:srgbClr val="1A1A1A"/>
                </a:solidFill>
              </a:rPr>
              <a:t>● Una granada en el nuevo escritorio de Gertz Manero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3054096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sz="700">
                <a:solidFill>
                  <a:srgbClr val="999999"/>
                </a:solidFill>
              </a:rPr>
              <a:t>Vanguardia  01/02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3383280"/>
            <a:ext cx="7406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900">
                <a:solidFill>
                  <a:srgbClr val="1E7A45"/>
                </a:solidFill>
              </a:rPr>
              <a:t>● Quiere ser presidente: Samuel García se proyecta a 2030 en NY mientras presume energía e inversión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0" y="3383280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sz="700">
                <a:solidFill>
                  <a:srgbClr val="999999"/>
                </a:solidFill>
              </a:rPr>
              <a:t>Vanguardia  01/02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54864"/>
            <a:ext cx="6583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700">
                <a:solidFill>
                  <a:srgbClr val="FFFFFF"/>
                </a:solidFill>
              </a:rPr>
              <a:t>Tema: Industria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0" y="13716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sz="900">
                <a:solidFill>
                  <a:srgbClr val="CCCCCC"/>
                </a:solidFill>
              </a:rPr>
              <a:t>25 artículos esta semana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937760"/>
            <a:ext cx="9144000" cy="210312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4937760"/>
            <a:ext cx="877824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700">
                <a:solidFill>
                  <a:srgbClr val="999999"/>
                </a:solidFill>
              </a:rPr>
              <a:t>Secretaría de Economía — Gobierno de Coahuila  |  02/02/2026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13232"/>
            <a:ext cx="8412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000">
                <a:solidFill>
                  <a:srgbClr val="17658A"/>
                </a:solidFill>
              </a:rPr>
              <a:t>4 oportunidades  |  4 riesgos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078992"/>
            <a:ext cx="7406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900">
                <a:solidFill>
                  <a:srgbClr val="1A1A1A"/>
                </a:solidFill>
              </a:rPr>
              <a:t>● VIDEO: ‘El Diablo Viste a la Moda 2’ vuelve con más poder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1078992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sz="700">
                <a:solidFill>
                  <a:srgbClr val="999999"/>
                </a:solidFill>
              </a:rPr>
              <a:t>Vanguardia  01/02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408176"/>
            <a:ext cx="7406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900">
                <a:solidFill>
                  <a:srgbClr val="1A1A1A"/>
                </a:solidFill>
              </a:rPr>
              <a:t>● Desmantelaban bodegas y terminan detenidos por la Policía Municipal de Frontera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1408176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sz="700">
                <a:solidFill>
                  <a:srgbClr val="999999"/>
                </a:solidFill>
              </a:rPr>
              <a:t>Vanguardia  01/02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1737360"/>
            <a:ext cx="7406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900">
                <a:solidFill>
                  <a:srgbClr val="1A1A1A"/>
                </a:solidFill>
              </a:rPr>
              <a:t>● Torreón será sede del encuentro nacional de la industria de ferias y convenciones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1737360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sz="700">
                <a:solidFill>
                  <a:srgbClr val="999999"/>
                </a:solidFill>
              </a:rPr>
              <a:t>Vanguardia  01/02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066544"/>
            <a:ext cx="7406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900">
                <a:solidFill>
                  <a:srgbClr val="1A1A1A"/>
                </a:solidFill>
              </a:rPr>
              <a:t>● Saltillo: mujer resulta lesionada tras volcadura; ningún conductor acepta su responsabilidad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2066544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sz="700">
                <a:solidFill>
                  <a:srgbClr val="999999"/>
                </a:solidFill>
              </a:rPr>
              <a:t>Vanguardia  31/01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2395728"/>
            <a:ext cx="7406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900">
                <a:solidFill>
                  <a:srgbClr val="1A1A1A"/>
                </a:solidFill>
              </a:rPr>
              <a:t>● Analizan México y EU acceso a minerales críticos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2395728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sz="700">
                <a:solidFill>
                  <a:srgbClr val="999999"/>
                </a:solidFill>
              </a:rPr>
              <a:t>Vanguardia  30/01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2724912"/>
            <a:ext cx="7406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900">
                <a:solidFill>
                  <a:srgbClr val="1A1A1A"/>
                </a:solidFill>
              </a:rPr>
              <a:t>● Da Fiscalía de NL carpetazo al caso contra Armando Castilla; reafirma que hubo fabricación de pruebas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0" y="2724912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sz="700">
                <a:solidFill>
                  <a:srgbClr val="999999"/>
                </a:solidFill>
              </a:rPr>
              <a:t>Vanguardia  30/01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3054096"/>
            <a:ext cx="7406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900">
                <a:solidFill>
                  <a:srgbClr val="1A1A1A"/>
                </a:solidFill>
              </a:rPr>
              <a:t>● ‘Qué bien escribes, hijo’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3054096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sz="700">
                <a:solidFill>
                  <a:srgbClr val="999999"/>
                </a:solidFill>
              </a:rPr>
              <a:t>Vanguardia  30/01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3383280"/>
            <a:ext cx="7406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900">
                <a:solidFill>
                  <a:srgbClr val="C00000"/>
                </a:solidFill>
              </a:rPr>
              <a:t>● Mantener sueldos será un reto para el sector automotriz ante los aranceles de Donald Trump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0" y="3383280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sz="700">
                <a:solidFill>
                  <a:srgbClr val="999999"/>
                </a:solidFill>
              </a:rPr>
              <a:t>Vanguardia  30/01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54864"/>
            <a:ext cx="6583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700">
                <a:solidFill>
                  <a:srgbClr val="FFFFFF"/>
                </a:solidFill>
              </a:rPr>
              <a:t>Tema: Energia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0" y="13716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sz="900">
                <a:solidFill>
                  <a:srgbClr val="CCCCCC"/>
                </a:solidFill>
              </a:rPr>
              <a:t>18 artículos esta semana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937760"/>
            <a:ext cx="9144000" cy="210312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4937760"/>
            <a:ext cx="877824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700">
                <a:solidFill>
                  <a:srgbClr val="999999"/>
                </a:solidFill>
              </a:rPr>
              <a:t>Secretaría de Economía — Gobierno de Coahuila  |  02/02/2026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13232"/>
            <a:ext cx="8412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000">
                <a:solidFill>
                  <a:srgbClr val="17658A"/>
                </a:solidFill>
              </a:rPr>
              <a:t>1 oportunidades  |  2 riesgos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078992"/>
            <a:ext cx="7406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900">
                <a:solidFill>
                  <a:srgbClr val="1A1A1A"/>
                </a:solidFill>
              </a:rPr>
              <a:t>● Manganitas ∙ AFA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1078992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sz="700">
                <a:solidFill>
                  <a:srgbClr val="999999"/>
                </a:solidFill>
              </a:rPr>
              <a:t>Vanguardia  01/02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408176"/>
            <a:ext cx="7406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900">
                <a:solidFill>
                  <a:srgbClr val="1A1A1A"/>
                </a:solidFill>
              </a:rPr>
              <a:t>● Alista la NASA el ensayo en frío de Artemis II, misión clave para el regreso tripulado a la Luna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1408176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sz="700">
                <a:solidFill>
                  <a:srgbClr val="999999"/>
                </a:solidFill>
              </a:rPr>
              <a:t>Vanguardia  31/01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1737360"/>
            <a:ext cx="7406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900">
                <a:solidFill>
                  <a:srgbClr val="1A1A1A"/>
                </a:solidFill>
              </a:rPr>
              <a:t>● El Reino Unido y la UE explorarán la reanudación de las conversaciones sobre cooperación en defensa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1737360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sz="700">
                <a:solidFill>
                  <a:srgbClr val="999999"/>
                </a:solidFill>
              </a:rPr>
              <a:t>Vanguardia  31/01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066544"/>
            <a:ext cx="7406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900">
                <a:solidFill>
                  <a:srgbClr val="C00000"/>
                </a:solidFill>
              </a:rPr>
              <a:t>● Afirman expertos que aranceles por dar petróleo a Cuba extenderán el caos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2066544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sz="700">
                <a:solidFill>
                  <a:srgbClr val="999999"/>
                </a:solidFill>
              </a:rPr>
              <a:t>Vanguardia  31/01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2395728"/>
            <a:ext cx="7406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900">
                <a:solidFill>
                  <a:srgbClr val="1A1A1A"/>
                </a:solidFill>
              </a:rPr>
              <a:t>● El mundo avanzando a energía limpia... y otros queriendo prenderle fuego al pasado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2395728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sz="700">
                <a:solidFill>
                  <a:srgbClr val="999999"/>
                </a:solidFill>
              </a:rPr>
              <a:t>Vanguardia  30/01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2724912"/>
            <a:ext cx="7406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900">
                <a:solidFill>
                  <a:srgbClr val="C00000"/>
                </a:solidFill>
              </a:rPr>
              <a:t>● Trump impondrá aranceles a países que suministren petróleo a Cuba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0" y="2724912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sz="700">
                <a:solidFill>
                  <a:srgbClr val="999999"/>
                </a:solidFill>
              </a:rPr>
              <a:t>Vanguardia  30/01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3054096"/>
            <a:ext cx="7406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900">
                <a:solidFill>
                  <a:srgbClr val="1A1A1A"/>
                </a:solidFill>
              </a:rPr>
              <a:t>● Denuncias anónimas destapan huachicol: Pemex reporta 221 tomas y cientos de miles de litros asegurados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3054096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sz="700">
                <a:solidFill>
                  <a:srgbClr val="999999"/>
                </a:solidFill>
              </a:rPr>
              <a:t>Vanguardia  29/01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3383280"/>
            <a:ext cx="7406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900">
                <a:solidFill>
                  <a:srgbClr val="1A1A1A"/>
                </a:solidFill>
              </a:rPr>
              <a:t>● Ingresos del petróleo venezolano serán supervisados por el gobierno de Estados Unidos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0" y="3383280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sz="700">
                <a:solidFill>
                  <a:srgbClr val="999999"/>
                </a:solidFill>
              </a:rPr>
              <a:t>Vanguardia  28/01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54864"/>
            <a:ext cx="6583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700">
                <a:solidFill>
                  <a:srgbClr val="FFFFFF"/>
                </a:solidFill>
              </a:rPr>
              <a:t>Tema: Comercio Exterior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0" y="13716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sz="900">
                <a:solidFill>
                  <a:srgbClr val="CCCCCC"/>
                </a:solidFill>
              </a:rPr>
              <a:t>11 artículos esta semana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937760"/>
            <a:ext cx="9144000" cy="210312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4937760"/>
            <a:ext cx="877824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700">
                <a:solidFill>
                  <a:srgbClr val="999999"/>
                </a:solidFill>
              </a:rPr>
              <a:t>Secretaría de Economía — Gobierno de Coahuila  |  02/02/2026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13232"/>
            <a:ext cx="8412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000">
                <a:solidFill>
                  <a:srgbClr val="17658A"/>
                </a:solidFill>
              </a:rPr>
              <a:t>0 oportunidades  |  5 riesgos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078992"/>
            <a:ext cx="7406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900">
                <a:solidFill>
                  <a:srgbClr val="C00000"/>
                </a:solidFill>
              </a:rPr>
              <a:t>● Afirman expertos que aranceles por dar petróleo a Cuba extenderán el caos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1078992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sz="700">
                <a:solidFill>
                  <a:srgbClr val="999999"/>
                </a:solidFill>
              </a:rPr>
              <a:t>Vanguardia  31/01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408176"/>
            <a:ext cx="7406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900">
                <a:solidFill>
                  <a:srgbClr val="C00000"/>
                </a:solidFill>
              </a:rPr>
              <a:t>● Mantener sueldos será un reto para el sector automotriz ante los aranceles de Donald Trump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1408176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sz="700">
                <a:solidFill>
                  <a:srgbClr val="999999"/>
                </a:solidFill>
              </a:rPr>
              <a:t>Vanguardia  30/01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1737360"/>
            <a:ext cx="7406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900">
                <a:solidFill>
                  <a:srgbClr val="1A1A1A"/>
                </a:solidFill>
              </a:rPr>
              <a:t>● Deportan de Estados Unidos a empresario mexicano, vinculado con el crimen organizado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1737360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sz="700">
                <a:solidFill>
                  <a:srgbClr val="999999"/>
                </a:solidFill>
              </a:rPr>
              <a:t>Vanguardia  30/01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066544"/>
            <a:ext cx="7406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900">
                <a:solidFill>
                  <a:srgbClr val="C00000"/>
                </a:solidFill>
              </a:rPr>
              <a:t>● Trump impondrá aranceles a países que suministren petróleo a Cuba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2066544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sz="700">
                <a:solidFill>
                  <a:srgbClr val="999999"/>
                </a:solidFill>
              </a:rPr>
              <a:t>Vanguardia  30/01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2395728"/>
            <a:ext cx="7406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900">
                <a:solidFill>
                  <a:srgbClr val="1A1A1A"/>
                </a:solidFill>
              </a:rPr>
              <a:t>● Agente del ICE que asesinaron a  Renee Good y Alex Pretti fueron suspendidos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2395728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sz="700">
                <a:solidFill>
                  <a:srgbClr val="999999"/>
                </a:solidFill>
              </a:rPr>
              <a:t>Vanguardia  29/01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2724912"/>
            <a:ext cx="7406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900">
                <a:solidFill>
                  <a:srgbClr val="C00000"/>
                </a:solidFill>
              </a:rPr>
              <a:t>● Revisión del T MEC y aranceles definirán al sector automotriz en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0" y="2724912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sz="700">
                <a:solidFill>
                  <a:srgbClr val="999999"/>
                </a:solidFill>
              </a:rPr>
              <a:t>Vanguardia  28/01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3054096"/>
            <a:ext cx="7406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900">
                <a:solidFill>
                  <a:srgbClr val="1A1A1A"/>
                </a:solidFill>
              </a:rPr>
              <a:t>● Coahuila: +25 años de una Economía Saltillo-Céntrica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3054096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sz="700">
                <a:solidFill>
                  <a:srgbClr val="999999"/>
                </a:solidFill>
              </a:rPr>
              <a:t>Vanguardia  28/01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3383280"/>
            <a:ext cx="7406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900">
                <a:solidFill>
                  <a:srgbClr val="1A1A1A"/>
                </a:solidFill>
              </a:rPr>
              <a:t>● Identifican a un estadounidense baleado por disparos de la Patrulla Fronteriza en Arizona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0" y="3383280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sz="700">
                <a:solidFill>
                  <a:srgbClr val="999999"/>
                </a:solidFill>
              </a:rPr>
              <a:t>Vanguardia  28/01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54864"/>
            <a:ext cx="6583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700">
                <a:solidFill>
                  <a:srgbClr val="FFFFFF"/>
                </a:solidFill>
              </a:rPr>
              <a:t>Tema: Aranceles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0" y="13716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sz="900">
                <a:solidFill>
                  <a:srgbClr val="CCCCCC"/>
                </a:solidFill>
              </a:rPr>
              <a:t>8 artículos esta semana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937760"/>
            <a:ext cx="9144000" cy="210312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4937760"/>
            <a:ext cx="877824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700">
                <a:solidFill>
                  <a:srgbClr val="999999"/>
                </a:solidFill>
              </a:rPr>
              <a:t>Secretaría de Economía — Gobierno de Coahuila  |  02/02/2026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13232"/>
            <a:ext cx="8412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000">
                <a:solidFill>
                  <a:srgbClr val="17658A"/>
                </a:solidFill>
              </a:rPr>
              <a:t>0 oportunidades  |  5 riesgos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078992"/>
            <a:ext cx="7406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900">
                <a:solidFill>
                  <a:srgbClr val="1A1A1A"/>
                </a:solidFill>
              </a:rPr>
              <a:t>● Con encuesta ciudadana, decidirán si aumenta o no tarifas de taxis en Torreón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1078992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sz="700">
                <a:solidFill>
                  <a:srgbClr val="999999"/>
                </a:solidFill>
              </a:rPr>
              <a:t>Vanguardia  31/01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408176"/>
            <a:ext cx="7406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900">
                <a:solidFill>
                  <a:srgbClr val="C00000"/>
                </a:solidFill>
              </a:rPr>
              <a:t>● Afirman expertos que aranceles por dar petróleo a Cuba extenderán el caos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1408176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sz="700">
                <a:solidFill>
                  <a:srgbClr val="999999"/>
                </a:solidFill>
              </a:rPr>
              <a:t>Vanguardia  31/01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1737360"/>
            <a:ext cx="7406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900">
                <a:solidFill>
                  <a:srgbClr val="C00000"/>
                </a:solidFill>
              </a:rPr>
              <a:t>● Mantener sueldos será un reto para el sector automotriz ante los aranceles de Donald Trump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1737360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sz="700">
                <a:solidFill>
                  <a:srgbClr val="999999"/>
                </a:solidFill>
              </a:rPr>
              <a:t>Vanguardia  30/01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066544"/>
            <a:ext cx="7406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900">
                <a:solidFill>
                  <a:srgbClr val="C00000"/>
                </a:solidFill>
              </a:rPr>
              <a:t>● Trump impondrá aranceles a países que suministren petróleo a Cuba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2066544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sz="700">
                <a:solidFill>
                  <a:srgbClr val="999999"/>
                </a:solidFill>
              </a:rPr>
              <a:t>Vanguardia  30/01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2395728"/>
            <a:ext cx="7406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900">
                <a:solidFill>
                  <a:srgbClr val="1A1A1A"/>
                </a:solidFill>
              </a:rPr>
              <a:t>● Ante alzas de hasta 90%, van por reforma para regular aseguradoras en México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2395728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sz="700">
                <a:solidFill>
                  <a:srgbClr val="999999"/>
                </a:solidFill>
              </a:rPr>
              <a:t>Vanguardia  29/01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2724912"/>
            <a:ext cx="7406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900">
                <a:solidFill>
                  <a:srgbClr val="C00000"/>
                </a:solidFill>
              </a:rPr>
              <a:t>● Revisión del T MEC y aranceles definirán al sector automotriz en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0" y="2724912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sz="700">
                <a:solidFill>
                  <a:srgbClr val="999999"/>
                </a:solidFill>
              </a:rPr>
              <a:t>Vanguardia  28/01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3054096"/>
            <a:ext cx="7406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900">
                <a:solidFill>
                  <a:srgbClr val="C00000"/>
                </a:solidFill>
              </a:rPr>
              <a:t>● Trump afirma que impondrá nuevos aranceles a Corea del Sur mientras critica los retrasos en el acuerdo comerci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3054096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sz="700">
                <a:solidFill>
                  <a:srgbClr val="999999"/>
                </a:solidFill>
              </a:rPr>
              <a:t>Vanguardia  27/01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3383280"/>
            <a:ext cx="7406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900">
                <a:solidFill>
                  <a:srgbClr val="1A1A1A"/>
                </a:solidFill>
              </a:rPr>
              <a:t>● Subsidios a tarifas de CFE aumentan 3.5% para este año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0" y="3383280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sz="700">
                <a:solidFill>
                  <a:srgbClr val="999999"/>
                </a:solidFill>
              </a:rPr>
              <a:t>Vanguardia  27/01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54864"/>
            <a:ext cx="6583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700">
                <a:solidFill>
                  <a:srgbClr val="FFFFFF"/>
                </a:solidFill>
              </a:rPr>
              <a:t>Tema: Nearshoring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0" y="13716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sz="900">
                <a:solidFill>
                  <a:srgbClr val="CCCCCC"/>
                </a:solidFill>
              </a:rPr>
              <a:t>1 artículo esta semana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937760"/>
            <a:ext cx="9144000" cy="210312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4937760"/>
            <a:ext cx="877824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700">
                <a:solidFill>
                  <a:srgbClr val="999999"/>
                </a:solidFill>
              </a:rPr>
              <a:t>Secretaría de Economía — Gobierno de Coahuila  |  02/02/2026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13232"/>
            <a:ext cx="8412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000">
                <a:solidFill>
                  <a:srgbClr val="17658A"/>
                </a:solidFill>
              </a:rPr>
              <a:t>1 oportunidades  |  0 riesgos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078992"/>
            <a:ext cx="7406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900">
                <a:solidFill>
                  <a:srgbClr val="1E7A45"/>
                </a:solidFill>
              </a:rPr>
              <a:t>● Advierten oportunidades positivas para un nearshoring 2.0 en 2026 para México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1078992"/>
            <a:ext cx="1188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sz="700">
                <a:solidFill>
                  <a:srgbClr val="999999"/>
                </a:solidFill>
              </a:rPr>
              <a:t>Vanguardia  29/01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54864"/>
            <a:ext cx="6583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700">
                <a:solidFill>
                  <a:srgbClr val="FFFFFF"/>
                </a:solidFill>
              </a:rPr>
              <a:t>Coahuila: Actividad Regional esta Semana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0" y="13716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sz="900">
                <a:solidFill>
                  <a:srgbClr val="CCCCCC"/>
                </a:solidFill>
              </a:rPr>
              <a:t>02/02/2026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937760"/>
            <a:ext cx="9144000" cy="210312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4937760"/>
            <a:ext cx="877824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700">
                <a:solidFill>
                  <a:srgbClr val="999999"/>
                </a:solidFill>
              </a:rPr>
              <a:t>Secretaría de Economía — Gobierno de Coahuila  |  02/02/2026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13232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100">
                <a:solidFill>
                  <a:srgbClr val="1F3864"/>
                </a:solidFill>
              </a:rPr>
              <a:t>37 artículos con referencia regional directa esta semana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0" y="1051560"/>
            <a:ext cx="2971800" cy="3749039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80760" y="1115568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000">
                <a:solidFill>
                  <a:srgbClr val="1F3864"/>
                </a:solidFill>
              </a:rPr>
              <a:t>Perspectiva Regional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1417320"/>
            <a:ext cx="2670048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900">
                <a:solidFill>
                  <a:srgbClr val="1A1A1A"/>
                </a:solidFill>
              </a:rPr>
              <a:t>La región Sureste concentró la mayor actividad noticiosa con 17 artículos, lo que implica un aumento significativo en la visibilidad de la industria y la inversión en esta zona de Coahuila. La actividad noticiosa en las otras regiones, como la Carbonífera con 3 artículos, se enfoca en la generación de empleo, la transición energética y la reconversión industrial, mientras que en el Centro, Norte, Laguna, se centra en la inversión y el desarrollo industrial, destacando la diversidad económica del estado.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078992"/>
            <a:ext cx="53035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000">
                <a:solidFill>
                  <a:srgbClr val="1F3864"/>
                </a:solidFill>
              </a:rPr>
              <a:t>Centro  </a:t>
            </a:r>
            <a:r>
              <a:rPr b="0" sz="900">
                <a:solidFill>
                  <a:srgbClr val="17658A"/>
                </a:solidFill>
              </a:rPr>
              <a:t>(4 artículos)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1307592"/>
            <a:ext cx="5303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700">
                <a:solidFill>
                  <a:srgbClr val="C00000"/>
                </a:solidFill>
              </a:rPr>
              <a:t>  2 riesgos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1463040"/>
            <a:ext cx="5394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750">
                <a:solidFill>
                  <a:srgbClr val="1A1A1A"/>
                </a:solidFill>
              </a:rPr>
              <a:t>  • Monclova: tras tres años sin aportaciones, CEAS mantiene deuda millonaria con Simas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1645920"/>
            <a:ext cx="5394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750">
                <a:solidFill>
                  <a:srgbClr val="1A1A1A"/>
                </a:solidFill>
              </a:rPr>
              <a:t>  • Alcalde de Monclova reconoce resultados de delegado de la FGE en la Región Centro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1828800"/>
            <a:ext cx="53035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000">
                <a:solidFill>
                  <a:srgbClr val="1F3864"/>
                </a:solidFill>
              </a:rPr>
              <a:t>Norte  </a:t>
            </a:r>
            <a:r>
              <a:rPr b="0" sz="900">
                <a:solidFill>
                  <a:srgbClr val="17658A"/>
                </a:solidFill>
              </a:rPr>
              <a:t>(4 artículos)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2057400"/>
            <a:ext cx="5303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700">
                <a:solidFill>
                  <a:srgbClr val="1E7A45"/>
                </a:solidFill>
              </a:rPr>
              <a:t>  2 oportunidades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2212848"/>
            <a:ext cx="5394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750">
                <a:solidFill>
                  <a:srgbClr val="1A1A1A"/>
                </a:solidFill>
              </a:rPr>
              <a:t>  • Alcalde de Torreón entrega nueva plaza en Villas Zaragoza y refuerza recuperación de espac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2395728"/>
            <a:ext cx="5394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750">
                <a:solidFill>
                  <a:srgbClr val="1A1A1A"/>
                </a:solidFill>
              </a:rPr>
              <a:t>  • Simas Piedras Negras descarta desaparecer sindicato, pero congela salarios por dos años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2578608"/>
            <a:ext cx="53035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000">
                <a:solidFill>
                  <a:srgbClr val="1F3864"/>
                </a:solidFill>
              </a:rPr>
              <a:t>Sureste  </a:t>
            </a:r>
            <a:r>
              <a:rPr b="0" sz="900">
                <a:solidFill>
                  <a:srgbClr val="17658A"/>
                </a:solidFill>
              </a:rPr>
              <a:t>(17 artículos)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807208"/>
            <a:ext cx="5303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700">
                <a:solidFill>
                  <a:srgbClr val="1E7A45"/>
                </a:solidFill>
              </a:rPr>
              <a:t>  5 oportunidades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2962656"/>
            <a:ext cx="5394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750">
                <a:solidFill>
                  <a:srgbClr val="1A1A1A"/>
                </a:solidFill>
              </a:rPr>
              <a:t>  • Impulsan empleo y educación en Ramos Arizpe; Grupo Carso generará miles de vacantes por pr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3145536"/>
            <a:ext cx="5394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750">
                <a:solidFill>
                  <a:srgbClr val="1A1A1A"/>
                </a:solidFill>
              </a:rPr>
              <a:t>  • Coahuila: +25 años de una Economía Saltillo-Céntrica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3328416"/>
            <a:ext cx="53035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000">
                <a:solidFill>
                  <a:srgbClr val="1F3864"/>
                </a:solidFill>
              </a:rPr>
              <a:t>Laguna  </a:t>
            </a:r>
            <a:r>
              <a:rPr b="0" sz="900">
                <a:solidFill>
                  <a:srgbClr val="17658A"/>
                </a:solidFill>
              </a:rPr>
              <a:t>(9 artículos)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3557016"/>
            <a:ext cx="5303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700">
                <a:solidFill>
                  <a:srgbClr val="1E7A45"/>
                </a:solidFill>
              </a:rPr>
              <a:t>  4 oportunidades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3712464"/>
            <a:ext cx="5394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750">
                <a:solidFill>
                  <a:srgbClr val="1A1A1A"/>
                </a:solidFill>
              </a:rPr>
              <a:t>  • Sigrama inaugura nueva planta en Torreón y refuerza su liderazgo tecnológico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3895344"/>
            <a:ext cx="5394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750">
                <a:solidFill>
                  <a:srgbClr val="1A1A1A"/>
                </a:solidFill>
              </a:rPr>
              <a:t>  • Torreón: subirá un peso el pan en La Laguna a partir de febrero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4078224"/>
            <a:ext cx="53035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000">
                <a:solidFill>
                  <a:srgbClr val="1F3864"/>
                </a:solidFill>
              </a:rPr>
              <a:t>Carbonífera  </a:t>
            </a:r>
            <a:r>
              <a:rPr b="0" sz="900">
                <a:solidFill>
                  <a:srgbClr val="17658A"/>
                </a:solidFill>
              </a:rPr>
              <a:t>(3 artículos)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4306824"/>
            <a:ext cx="5303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700">
                <a:solidFill>
                  <a:srgbClr val="1E7A45"/>
                </a:solidFill>
              </a:rPr>
              <a:t>  1 oportunidad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4462272"/>
            <a:ext cx="5394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750">
                <a:solidFill>
                  <a:srgbClr val="1A1A1A"/>
                </a:solidFill>
              </a:rPr>
              <a:t>  • Raptan en Sinaloa a 10 ingenieros de minera canadiense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" y="4645152"/>
            <a:ext cx="5394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750">
                <a:solidFill>
                  <a:srgbClr val="1A1A1A"/>
                </a:solidFill>
              </a:rPr>
              <a:t>  • Extracción de gas en Coahuila puede generar miles de empleos, como en Texas: Gobernador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" y="54864"/>
            <a:ext cx="6583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1700">
                <a:solidFill>
                  <a:srgbClr val="FFFFFF"/>
                </a:solidFill>
              </a:rPr>
              <a:t>Conclusiones y Próximos Pasos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0" y="13716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sz="900">
                <a:solidFill>
                  <a:srgbClr val="CCCCCC"/>
                </a:solidFill>
              </a:rPr>
              <a:t>02/02/2026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937760"/>
            <a:ext cx="9144000" cy="210312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4937760"/>
            <a:ext cx="877824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700">
                <a:solidFill>
                  <a:srgbClr val="999999"/>
                </a:solidFill>
              </a:rPr>
              <a:t>Secretaría de Economía — Gobierno de Coahuila  |  02/02/2026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51560"/>
            <a:ext cx="8229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300">
                <a:solidFill>
                  <a:srgbClr val="1A1A1A"/>
                </a:solidFill>
              </a:rPr>
              <a:t>• Se analizaron 154 noticias relevantes en la semana.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27048"/>
            <a:ext cx="8229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300">
                <a:solidFill>
                  <a:srgbClr val="1A1A1A"/>
                </a:solidFill>
              </a:rPr>
              <a:t>• Tema dominante: Infraestructura (48 artículos).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002536"/>
            <a:ext cx="8229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300">
                <a:solidFill>
                  <a:srgbClr val="1A1A1A"/>
                </a:solidFill>
              </a:rPr>
              <a:t>• Balance global: 21 oportunidades / 13 riesgos detectados.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478024"/>
            <a:ext cx="8229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300">
                <a:solidFill>
                  <a:srgbClr val="1A1A1A"/>
                </a:solidFill>
              </a:rPr>
              <a:t>• Revisar artículos con análisis profundo requerido para seguimiento puntual.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953512"/>
            <a:ext cx="8229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300">
                <a:solidFill>
                  <a:srgbClr val="1A1A1A"/>
                </a:solidFill>
              </a:rPr>
              <a:t>• Próxima actualización: lunes siguiente.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